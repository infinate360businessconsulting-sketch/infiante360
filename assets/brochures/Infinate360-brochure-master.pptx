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9144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E0E7FF"/>
                </a:solidFill>
                <a:latin typeface="Calibri"/>
              </a:rPr>
              <a:t>INFINATE360  ·  INFINITE360 TECH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868680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Enterprise MarTech,</a:t>
            </a:r>
          </a:p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Customer Data &amp; AI</a:t>
            </a:r>
          </a:p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77724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0">
                <a:solidFill>
                  <a:srgbClr val="E0E7FF"/>
                </a:solidFill>
                <a:latin typeface="Calibri"/>
              </a:rPr>
              <a:t>Training, consulting, C2C talent and MarTech Centre of Excellence set-up for Adobe Experience Cloud and Agentic AI.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1208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2801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4F46E5"/>
                </a:solidFill>
                <a:latin typeface="Calibri"/>
              </a:rPr>
              <a:t>AEP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521208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5212080"/>
            <a:ext cx="12801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4F46E5"/>
                </a:solidFill>
                <a:latin typeface="Calibri"/>
              </a:rPr>
              <a:t>RTCDP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521208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5212080"/>
            <a:ext cx="12801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4F46E5"/>
                </a:solidFill>
                <a:latin typeface="Calibri"/>
              </a:rPr>
              <a:t>AJO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521208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5212080"/>
            <a:ext cx="12801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4F46E5"/>
                </a:solidFill>
                <a:latin typeface="Calibri"/>
              </a:rPr>
              <a:t>CJA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521208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212080"/>
            <a:ext cx="12801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4F46E5"/>
                </a:solidFill>
                <a:latin typeface="Calibri"/>
              </a:rPr>
              <a:t>Agentic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>
                <a:solidFill>
                  <a:srgbClr val="E0E7FF"/>
                </a:solidFill>
                <a:latin typeface="Calibri"/>
              </a:rPr>
              <a:t>infiante360techacademy.com   ·   infinate360businessconsulting@gmail.com   ·   +91 94901 64044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What is Infinate360?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Infinate360 provides enterprise MarTech consulting and digital transformation services, helping organisations optimise customer data, analytics, personalisation and Adobe Experience Cloud technologies.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Infinite360 Tech Academy is our learning arm: live and recorded programmes with hands-on labs and enterprise-style projects.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4F46E5"/>
                </a:solidFill>
                <a:latin typeface="Calibri"/>
              </a:rPr>
              <a:t>Founded by Pavan Babu Gandla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66160"/>
            <a:ext cx="566928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Fractional chief data architect and Adobe Experience Cloud specialist based in Bengaluru, India.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1463040"/>
            <a:ext cx="731520" cy="7315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46304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371600"/>
            <a:ext cx="39319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444752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Consulting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2880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AEP · RTCDP · AJO · CJA · Web SDK · data and AI architecture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0" y="26517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6517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2560320"/>
            <a:ext cx="39319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8120" y="2633472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1752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Career Accelerator · bootcamps · single-tool courses · corporate</a:t>
            </a:r>
          </a:p>
        </p:txBody>
      </p:sp>
      <p:sp>
        <p:nvSpPr>
          <p:cNvPr id="18" name="Oval 17"/>
          <p:cNvSpPr/>
          <p:nvPr/>
        </p:nvSpPr>
        <p:spPr>
          <a:xfrm>
            <a:off x="6766560" y="3840479"/>
            <a:ext cx="731520" cy="7315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3840479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3749039"/>
            <a:ext cx="39319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3822191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Talent (C2C)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20624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Vetted MarTech contractors for client projects</a:t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502920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502920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937760"/>
            <a:ext cx="39319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8120" y="5010912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Centre of Excellence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539496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Operating model, governance and enablement set-up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92040"/>
            <a:ext cx="2743200" cy="100584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919472"/>
            <a:ext cx="27432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000" b="1">
                <a:solidFill>
                  <a:srgbClr val="4F46E5"/>
                </a:solidFill>
                <a:latin typeface="Calibri"/>
              </a:rPr>
              <a:t>15+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440680"/>
            <a:ext cx="2743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years of experience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0" y="4892040"/>
            <a:ext cx="2743200" cy="100584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4919472"/>
            <a:ext cx="27432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000" b="1">
                <a:solidFill>
                  <a:srgbClr val="4F46E5"/>
                </a:solidFill>
                <a:latin typeface="Calibri"/>
              </a:rPr>
              <a:t>37+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5440680"/>
            <a:ext cx="2743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projects delivered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989320"/>
            <a:ext cx="58521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As stated by our founder; not independently verified. No client is named or implied to endorse us.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617220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Industries our founder has worked with: BFSI · Retail &amp; E-commerce · Healthcare · Travel &amp; Hospitality · Manufacturing · Education · Media &amp; Entertainment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WHY INFINITE360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Our approach, vision and mission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1463040"/>
            <a:ext cx="822960" cy="8229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14630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Discover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737360" y="1737360"/>
            <a:ext cx="32004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468880" y="146304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331720"/>
            <a:ext cx="14630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Design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337560" y="1737360"/>
            <a:ext cx="32004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069079" y="1463040"/>
            <a:ext cx="822960" cy="8229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9079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331720"/>
            <a:ext cx="14630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Build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937759" y="1737360"/>
            <a:ext cx="32004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79" y="146304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79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331720"/>
            <a:ext cx="14630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Integrate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537959" y="1737360"/>
            <a:ext cx="32004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69479" y="1463040"/>
            <a:ext cx="822960" cy="8229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69479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331720"/>
            <a:ext cx="14630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Activate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138160" y="1737360"/>
            <a:ext cx="32004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69680" y="146304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0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331720"/>
            <a:ext cx="14630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Measure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738360" y="1737360"/>
            <a:ext cx="32004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69880" y="1463040"/>
            <a:ext cx="822960" cy="82296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69880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2331720"/>
            <a:ext cx="14630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Optimize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83464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Successful transformation is not just implementing technology. It connects people, data, processes, platforms and business objectives, moving organisations from fragmented customer data to real-time, intelligent, measurable experiences.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3840480"/>
            <a:ext cx="82296" cy="2103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93192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Vision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343400"/>
            <a:ext cx="5120640" cy="155447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Help organisations build intelligent, connected, future-ready digital businesses through technology, data, AI and customer experience innovation.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17920" y="3840480"/>
            <a:ext cx="82296" cy="21031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93192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343400"/>
            <a:ext cx="5120640" cy="155447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Make enterprise technology simpler, smarter and more valuable for the business.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WHO WE 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Three journeys, one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822960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32918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Enterprise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32918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4F46E5"/>
                </a:solidFill>
                <a:latin typeface="Calibri"/>
              </a:rPr>
              <a:t>CDOs, CTOs, CMOs, MarTech leaders, architects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29184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Architecture reviews and readiness assessments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AEP, RTCDP, AJO, CJA, Web SDK delivery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AI and Agentic AI on enterprise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5544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82296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627632"/>
            <a:ext cx="32918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Corporate Capability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560320"/>
            <a:ext cx="32918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7C3AED"/>
                </a:solidFill>
                <a:latin typeface="Calibri"/>
              </a:rPr>
              <a:t>L&amp;D, delivery and transformation leaders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383280"/>
            <a:ext cx="329184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Tailored team training and labs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Project-based enablement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Assessments and upskilling plans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5544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19" y="1554480"/>
            <a:ext cx="3566160" cy="822960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627632"/>
            <a:ext cx="32918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Tech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560320"/>
            <a:ext cx="32918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4F46E5"/>
                </a:solidFill>
                <a:latin typeface="Calibri"/>
              </a:rPr>
              <a:t>Professionals, career switchers, practitioners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383280"/>
            <a:ext cx="329184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Live and recorded programmes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Projects and interview preparation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Free demos and Friday workshops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Each journey has its own entry point. Pick yours at infiante360techacademy.com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COURSES WE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Programmes, fees and timings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2377440"/>
                <a:gridCol w="3017520"/>
                <a:gridCol w="1371600"/>
              </a:tblGrid>
              <a:tr h="508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Programme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Timing (IST)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Fee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AEP Launchpad bootcamp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Live, 3 hours + test series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Evening 6–9 PM; next date on site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₹3,000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 AEP Foundations batch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Live, 2 weeks, Mon–Fri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8:00–9:30 AM, from 15 Oct 2026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See site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Friday hands-on workshops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Live, one AEP skill each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Fridays from 16 Oct 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See site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Adobe MarTech + Agentic AI Career Accelerator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 online, 90 days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Batch timings shared at registration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₹60,000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AEP, AJO &amp; CJA: Foundation + Advanced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Recorded, self-paced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Learn any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₹60,000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Single-tool courses (RTCDP, AJO, CJA, Analytics, Web SDK, Agentic AI)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Focused paths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On request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On request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CXO Hive: Executive &amp; Architecture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 + 1 month support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By cohort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₹1,00,000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 Customised MarTech Program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Live, individuals or teams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Agreed with you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₹1,00,000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Fees as published on the website; 'See site' items are confirmed at registration. Corporate pricing is quoted per engagement.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BEGINNER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TOC: AEP Launchpad and Foundations batch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AEP Launchpad (3 hours)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Welcome: AEP in one picture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XDM schemas and datasets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Ingestion basics: load, map, read errors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Identity and Real-Time Profile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Segmentation and activation basics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Free interview and certification test series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2920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Foundations batch (2 weeks)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Live, Monday to Friday, 8:00–9:30 AM IST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Starts 15 October 2026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AEP end-to-end fundamentals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Hands-on labs each session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Beginner friendly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Friday workshops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One AEP skill per session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Schema, ingestion, identity, Profile, audiences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Recorded for learners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Dates and fees on the website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Interview focus: AEP data flow, XDM class choice, identity namespaces, merge policies, batch vs streaming.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FLAGSHIP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TOC: Career Accelerator (90 days,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Phase 1–2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AEP core: XDM, datasets, ingestion, Profile, Identity, Query Service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Web SDK, CJA and AJO: datastreams, connections, data views, real-time journeys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1850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1850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473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Phase 3–4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473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RTCDP and activation: audiences, destinations, personalisation, validation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Architect patterns: APIs, integration, security, environments, QA, monitoring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59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5059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Phase 5–6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Agentic AI and MCP: governed tools and agents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Capstone and interview preparation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18269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8269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1149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Projects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1149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Customer 360 data model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Real-time transaction journey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RTCDP activation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CJA executive reporting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Web SDK modernisation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Agentic AI marketing assistant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Fee ₹60,000. Career mapping, resume and LinkedIn guidance included. Roles are target pathways; no placement is guaranteed.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RECORDED, SELF-PACED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TOC: AEP, AJO &amp; CJA: Foundation + Advanced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Foundation MarTech series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Adobe Experience Platform (AEP)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Adobe Journey Optimizer (AJO)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Customer Journey Analytics (CJA)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2920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Advanced digital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Digital and MarTech architecture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Enterprise implementation patterns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Customer Data Platform architecture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AI and data-driven customer experience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Recorded video lessons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Test series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ERD resources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E-library and extra learning material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Fee ₹60,000, one time. Also listed on MarTechJobs.io.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SINGLE-TOOL COURSES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TOC: Real-Time CDP and Journey Optimizer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RTCDP: Profiles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Real-Time Customer Profile, merge policies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Identity namespaces and graphs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Customer 360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1850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1850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473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RTCDP: Activation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473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Batch, streaming and edge evaluation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Destinations, mapping, consent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Activation QA and reconciliation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59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5059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AJO: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How AJO uses AEP profiles and events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Event vs audience journeys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Conditions, waits, personalisation, decisioning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18269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8269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1149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AJO: Govern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1149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Suppression, frequency, consent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Testing and approvals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Journey reporting and troubleshooting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Interview focus: suppression audiences, event vs audience journeys, why a journey does not trigger.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SINGLE-TOOL COURSES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TOC: Customer Journey Analytics and Web SDK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CJA: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Connections and datasets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Person ID strategy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Lookups and profile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1850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1850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473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CJA: Analyse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473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Data views, sessions, attribution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Workspace, flow and fallout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Adobe Analytics to CJA migration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59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5059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Web SDK: Implement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Edge Network, XDM data layers, datastreams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Adobe Tags extension, ECID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Page view and interaction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18269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8269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1149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Web SDK: Validate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1149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Consent and event forwarding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Debugging and dataset previews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Migration from AppMeasurement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Interview focus: CJA vs Adobe Analytics, data views, missing dataset debugging, Web SDK validation.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SINGLE-TOOL COURSES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TOC: Adobe Analytics, Agentic AI &amp; MCP, certification prep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Adobe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Measurement plans and KPIs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Variables, events, Adobe Tags, Web SDK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Validation and QA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Workspace reporting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2920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Agentic AI &amp;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Agents, planning and tool use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MCP servers, clients, least privilege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Human approval, logging, consent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Marketing assistant capstone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AEP certification prep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Read the current exam guide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Core topics review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Scenario and timed practice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Independent of Adobe; no pass guaranteed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Pricing for single-tool courses is shared on request.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CAREER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Interview preparation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83080"/>
            <a:ext cx="2560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Scenario test series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Interview-style AEP scenarios on segments, identity, merge policies and consent. Free with the bootcamp.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55448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80559" y="17373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73736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9" y="1783080"/>
            <a:ext cx="2560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Whiteboard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423160"/>
            <a:ext cx="32004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Architect-style questions: Customer 360, sources to activation, batch vs streaming.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55448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599" y="1737360"/>
            <a:ext cx="548640" cy="54864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9" y="173736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1783080"/>
            <a:ext cx="2560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Portfolio projects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2423160"/>
            <a:ext cx="32004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Six enterprise-style projects documented so you can walk through them in an interview.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49039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39319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93192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77639"/>
            <a:ext cx="2560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Resume and 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617720"/>
            <a:ext cx="32004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Positioning guidance for AEP, AJO, CJA and AI roles.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79" y="3749039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80559" y="3931920"/>
            <a:ext cx="548640" cy="54864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93192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9" y="3977639"/>
            <a:ext cx="2560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Career mapping 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4617720"/>
            <a:ext cx="32004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Role-by-role map: developer, data engineer, analyst, QA, architect.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749039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29599" y="39319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9" y="393192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19" y="3977639"/>
            <a:ext cx="2560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Free quiz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617720"/>
            <a:ext cx="32004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20 banking scenarios at infiante360techacademy.com/academy/aep-bfsi-quiz.html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Preparation improves readiness. It does not guarantee interviews, offers or placement.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TALENT FOR CLIENT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How C2C (corp-to-corp) engagement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C2C means a contractor engages through their own registered business entity, which contracts with the vendor or client and invoices for the work, instead of being a salaried employee.</a:t>
            </a:r>
          </a:p>
        </p:txBody>
      </p:sp>
      <p:sp>
        <p:nvSpPr>
          <p:cNvPr id="6" name="Oval 5"/>
          <p:cNvSpPr/>
          <p:nvPr/>
        </p:nvSpPr>
        <p:spPr>
          <a:xfrm>
            <a:off x="1051560" y="2194560"/>
            <a:ext cx="731520" cy="7315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945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Requirement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737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Client shares role, skills, duration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65960" y="2423160"/>
            <a:ext cx="36576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26080" y="21945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21945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301752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3383280"/>
            <a:ext cx="1737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We shortlist vetted MarTech profiles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40480" y="2423160"/>
            <a:ext cx="36576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00599" y="2194560"/>
            <a:ext cx="731520" cy="7315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599" y="21945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79" y="301752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3383280"/>
            <a:ext cx="1737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Client interviews the consultant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14999" y="2423160"/>
            <a:ext cx="36576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75119" y="21945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19" y="21945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01752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Contract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3383280"/>
            <a:ext cx="1737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MSA / SOW between the two entities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589519" y="2423160"/>
            <a:ext cx="36576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2194560"/>
            <a:ext cx="731520" cy="7315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40" y="21945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9" y="301752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Deliver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3383280"/>
            <a:ext cx="1737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Consultant delivers on the project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64040" y="2423160"/>
            <a:ext cx="36576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424160" y="21945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0" y="21945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301752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Invoice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3383280"/>
            <a:ext cx="1737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Entity invoices on agreed terms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297680"/>
            <a:ext cx="53949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297680"/>
            <a:ext cx="82296" cy="17373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38912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For clients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800600"/>
            <a:ext cx="5120640" cy="118871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Specialist AEP, RTCDP, AJO and CJA contractors</a:t>
            </a:r>
          </a:p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Flexible duration, no employment overhead</a:t>
            </a:r>
          </a:p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Interview before you commit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297680"/>
            <a:ext cx="53949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7920" y="4297680"/>
            <a:ext cx="82296" cy="1737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438912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For consultants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800600"/>
            <a:ext cx="5120640" cy="118871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You contract through your own entity</a:t>
            </a:r>
          </a:p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You manage your own taxes and benefits</a:t>
            </a:r>
          </a:p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Skills-first matching to relevant projects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Calibri"/>
              </a:rPr>
              <a:t>Rates, payment terms and eligibility are agreed per engagement and in writing. Tax and legal treatment varies by country: take professional advice.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ENTERPRISE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MarTech Centre of Excellence: how we set it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560320" cy="640080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25603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1. Assess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22860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Current stack and skills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Ambition and sponsors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Use-case backlog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27248" y="2926080"/>
            <a:ext cx="256032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560320" cy="64008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554480"/>
            <a:ext cx="25603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2.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331720"/>
            <a:ext cx="22860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Operating model and roles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Governance and consent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Architecture standards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2926080"/>
            <a:ext cx="256032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55448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560320" cy="640080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554480"/>
            <a:ext cx="25603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3.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331720"/>
            <a:ext cx="22860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Reusable templates and data models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Environments and release process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Enablement and training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96528" y="2926080"/>
            <a:ext cx="256032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55448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0" y="1554480"/>
            <a:ext cx="2560320" cy="64008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1554480"/>
            <a:ext cx="25603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4. Operate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331720"/>
            <a:ext cx="22860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Intake and prioritisation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Quality and measurement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Continuous improvement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6424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892040"/>
            <a:ext cx="82296" cy="11887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983479"/>
            <a:ext cx="1078991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What a CoE gives you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394959"/>
            <a:ext cx="10789919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•  One owner for MarTech standards, consent and data quality</a:t>
            </a:r>
          </a:p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•  Faster delivery through reusable assets and trained teams</a:t>
            </a:r>
          </a:p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•  A clear path from GCC capability to global delivery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CORPORATE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For organisations: CXO Hive and Live Customised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2062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CXO Hive Programme: ₹1,00,000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5120640" cy="365759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Setting up a MarTech / AI Centre of Excellence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AI and agentic AI strategy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Customer Data Platform strategy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Enterprise architecture and governance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GCC-to-global capability transformation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Reusable capabilities and global delivery models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One month of post-programme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82296" cy="42062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Live Customised Programme: ₹1,00,000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120640" cy="365759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Discovery: role, requirements, technology landscape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Live sessions and labs on your tools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Project work and reviews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Capstone tied to a real use case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For teams, consultancies and individuals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Quoted per engagement for teams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Corporate pricing is quoted per engagement. Outcomes depend on participation and practice.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000" b="0">
                <a:solidFill>
                  <a:srgbClr val="E0E7FF"/>
                </a:solidFill>
                <a:latin typeface="Calibri"/>
              </a:rPr>
              <a:t>Tell us what you need: learning, a contractor, or a Centre of Excellence.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68580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Website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2926080"/>
            <a:ext cx="448056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infiante360techacademy.com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68580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703320"/>
            <a:ext cx="448056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infinate360businessconsulting@gmail.com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68580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8056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Phone / WhatsApp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480560"/>
            <a:ext cx="448056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+91 94901 64044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68580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LinkedIn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257800"/>
            <a:ext cx="448056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linkedin.com/in/pavanbabu1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26480"/>
            <a:ext cx="107899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E0E7FF"/>
                </a:solidFill>
                <a:latin typeface="Calibri"/>
              </a:rPr>
              <a:t>Built around Adobe Experience Cloud technologies and Experience League learning resources. Not affiliated with or endorsed by Adobe. No job, salary or certification outcome is guaranteed.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
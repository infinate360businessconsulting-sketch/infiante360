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429768"/>
            <a:ext cx="1207007" cy="78638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02920"/>
            <a:ext cx="1104138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68880" y="640080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E0E7FF"/>
                </a:solidFill>
                <a:latin typeface="Calibri"/>
              </a:rPr>
              <a:t>INFINATE360  ·  INFINITE360 TECH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8686800" cy="2011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Enterprise MarTech,</a:t>
            </a:r>
          </a:p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Customer Data &amp; AI</a:t>
            </a:r>
          </a:p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Transformation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77724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>
                <a:solidFill>
                  <a:srgbClr val="E0E7FF"/>
                </a:solidFill>
                <a:latin typeface="Calibri"/>
              </a:rPr>
              <a:t>Training, consulting, C2C talent and MarTech Centre of Excellence set-up for Adobe Experience Cloud and Agentic 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1208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12801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4F46E5"/>
                </a:solidFill>
                <a:latin typeface="Calibri"/>
              </a:rPr>
              <a:t>AEP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8840" y="521208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5212080"/>
            <a:ext cx="12801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4F46E5"/>
                </a:solidFill>
                <a:latin typeface="Calibri"/>
              </a:rPr>
              <a:t>RTCDP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521208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5212080"/>
            <a:ext cx="12801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4F46E5"/>
                </a:solidFill>
                <a:latin typeface="Calibri"/>
              </a:rPr>
              <a:t>AJO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80" y="521208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5212080"/>
            <a:ext cx="12801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4F46E5"/>
                </a:solidFill>
                <a:latin typeface="Calibri"/>
              </a:rPr>
              <a:t>CJA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521208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5212080"/>
            <a:ext cx="12801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4F46E5"/>
                </a:solidFill>
                <a:latin typeface="Calibri"/>
              </a:rPr>
              <a:t>Agentic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  <a:latin typeface="Calibri"/>
              </a:rPr>
              <a:t>infiante360techacademy.com   ·   infinate360businessconsulting@gmail.com   ·   +91 94901 64044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Calibri"/>
              </a:rPr>
              <a:t>ABOUT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0584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What is Infinate360?</a:t>
            </a:r>
          </a:p>
        </p:txBody>
      </p:sp>
      <p:pic>
        <p:nvPicPr>
          <p:cNvPr id="5" name="Picture 4" descr="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74320"/>
            <a:ext cx="946404" cy="548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371600"/>
            <a:ext cx="566928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Infinate360 provides enterprise MarTech consulting and digital transformation services, helping organisations optimise customer data, analytics, personalisation and Adobe Experience Cloud technologies.</a:t>
            </a:r>
          </a:p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Infinite360 Tech Academy is our learning arm: live and recorded programmes with hands-on labs and enterprise-style projects.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  <a:latin typeface="Calibri"/>
              </a:rPr>
              <a:t>Founded by Pavan Babu Gandla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566928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Fractional chief data architect and Adobe Experience Cloud specialist based in Bengaluru, India.</a:t>
            </a:r>
          </a:p>
        </p:txBody>
      </p:sp>
      <p:sp>
        <p:nvSpPr>
          <p:cNvPr id="9" name="Oval 8"/>
          <p:cNvSpPr/>
          <p:nvPr/>
        </p:nvSpPr>
        <p:spPr>
          <a:xfrm>
            <a:off x="6766560" y="1463040"/>
            <a:ext cx="731520" cy="7315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463040"/>
            <a:ext cx="73152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371600"/>
            <a:ext cx="39319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1444752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Consulting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1828800"/>
            <a:ext cx="3657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AEP · RTCDP · AJO · CJA · Web SDK · data and AI architecture</a:t>
            </a:r>
          </a:p>
        </p:txBody>
      </p:sp>
      <p:sp>
        <p:nvSpPr>
          <p:cNvPr id="14" name="Oval 13"/>
          <p:cNvSpPr/>
          <p:nvPr/>
        </p:nvSpPr>
        <p:spPr>
          <a:xfrm>
            <a:off x="6766560" y="265176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651760"/>
            <a:ext cx="73152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2560320"/>
            <a:ext cx="39319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2633472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017520"/>
            <a:ext cx="3657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Career Accelerator · bootcamps · single-tool courses · corporate</a:t>
            </a:r>
          </a:p>
        </p:txBody>
      </p:sp>
      <p:sp>
        <p:nvSpPr>
          <p:cNvPr id="19" name="Oval 18"/>
          <p:cNvSpPr/>
          <p:nvPr/>
        </p:nvSpPr>
        <p:spPr>
          <a:xfrm>
            <a:off x="6766560" y="3840479"/>
            <a:ext cx="731520" cy="7315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3840479"/>
            <a:ext cx="73152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3749039"/>
            <a:ext cx="39319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3822191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Talent (C2C)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4206240"/>
            <a:ext cx="3657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Vetted MarTech contractors for client projects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502920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029200"/>
            <a:ext cx="73152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80960" y="4937760"/>
            <a:ext cx="39319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20" y="5010912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Centre of Excellence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5394960"/>
            <a:ext cx="3657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Operating model, governance and enablement set-up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892040"/>
            <a:ext cx="2743200" cy="100584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919472"/>
            <a:ext cx="27432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3000" b="1">
                <a:solidFill>
                  <a:srgbClr val="4F46E5"/>
                </a:solidFill>
                <a:latin typeface="Calibri"/>
              </a:rPr>
              <a:t>15+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440680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years of experience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74720" y="4892040"/>
            <a:ext cx="2743200" cy="100584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0" y="4919472"/>
            <a:ext cx="27432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3000" b="1">
                <a:solidFill>
                  <a:srgbClr val="4F46E5"/>
                </a:solidFill>
                <a:latin typeface="Calibri"/>
              </a:rPr>
              <a:t>37+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5440680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projects delivered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989320"/>
            <a:ext cx="58521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As stated by our founder; not independently verified. No client is named or implied to endorse us.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6172200"/>
            <a:ext cx="4846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Industries our founder has worked with: BFSI · Retail &amp; E-commerce · Healthcare · Travel &amp; Hospitality · Manufacturing · Education · Media &amp; Entertainment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Infinate360  ·  infiante360techacademy.com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6510528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Calibri"/>
              </a:rPr>
              <a:t>WHY INFINITE360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0584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Our approach, vision and mission</a:t>
            </a:r>
          </a:p>
        </p:txBody>
      </p:sp>
      <p:pic>
        <p:nvPicPr>
          <p:cNvPr id="5" name="Picture 4" descr="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74320"/>
            <a:ext cx="946404" cy="54864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68680" y="1463040"/>
            <a:ext cx="822960" cy="8229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63040"/>
            <a:ext cx="82296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14630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Discover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737360" y="1737360"/>
            <a:ext cx="320040" cy="27432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468880" y="1463040"/>
            <a:ext cx="822960" cy="8229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1463040"/>
            <a:ext cx="82296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331720"/>
            <a:ext cx="14630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Design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37560" y="1737360"/>
            <a:ext cx="320040" cy="27432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069079" y="1463040"/>
            <a:ext cx="822960" cy="8229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69079" y="1463040"/>
            <a:ext cx="82296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331720"/>
            <a:ext cx="14630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Build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937759" y="1737360"/>
            <a:ext cx="320040" cy="27432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69279" y="1463040"/>
            <a:ext cx="822960" cy="8229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79" y="1463040"/>
            <a:ext cx="82296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2331720"/>
            <a:ext cx="14630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Integrate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537959" y="1737360"/>
            <a:ext cx="320040" cy="27432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69479" y="1463040"/>
            <a:ext cx="822960" cy="8229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79" y="1463040"/>
            <a:ext cx="82296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331720"/>
            <a:ext cx="14630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Activate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138160" y="1737360"/>
            <a:ext cx="320040" cy="27432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869680" y="1463040"/>
            <a:ext cx="822960" cy="8229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0" y="1463040"/>
            <a:ext cx="82296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2331720"/>
            <a:ext cx="14630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Measure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738360" y="1737360"/>
            <a:ext cx="320040" cy="27432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469880" y="1463040"/>
            <a:ext cx="822960" cy="8229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69880" y="1463040"/>
            <a:ext cx="82296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2331720"/>
            <a:ext cx="14630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Optimize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834640"/>
            <a:ext cx="1106424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Successful transformation is not just implementing technology. It connects people, data, processes, platforms and business objectives, moving organisations from fragmented customer data to real-time, intelligent, measurable experiences.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384048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3840480"/>
            <a:ext cx="82296" cy="2103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3931920"/>
            <a:ext cx="5120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Vision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343400"/>
            <a:ext cx="5120640" cy="155447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•  Help organisations build intelligent, connected, future-ready digital businesses through technology, data, AI and customer experience innovation.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384048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3840480"/>
            <a:ext cx="82296" cy="21031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3931920"/>
            <a:ext cx="5120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Mission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343400"/>
            <a:ext cx="5120640" cy="155447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•  Make enterprise technology simpler, smarter and more valuable for the business.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Infinate360  ·  infiante360techacademy.com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98480" y="6510528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Calibri"/>
              </a:rPr>
              <a:t>WHO WE SERVE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0584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Three journeys, one platform</a:t>
            </a:r>
          </a:p>
        </p:txBody>
      </p:sp>
      <p:pic>
        <p:nvPicPr>
          <p:cNvPr id="5" name="Picture 4" descr="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74320"/>
            <a:ext cx="946404" cy="548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1554480"/>
            <a:ext cx="356616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566160" cy="822960"/>
          </a:xfrm>
          <a:prstGeom prst="roundRect">
            <a:avLst>
              <a:gd name="adj" fmla="val 6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27632"/>
            <a:ext cx="329184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Enterprise Consulting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60320"/>
            <a:ext cx="329184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4F46E5"/>
                </a:solidFill>
                <a:latin typeface="Calibri"/>
              </a:rPr>
              <a:t>CDOs, CTOs, CMOs, MarTech leaders, architects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83280"/>
            <a:ext cx="3291840" cy="2377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•  Architecture reviews and readiness assessments</a:t>
            </a:r>
          </a:p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•  AEP, RTCDP, AJO, CJA, Web SDK delivery</a:t>
            </a:r>
          </a:p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•  AI and Agentic AI on enterprise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554480"/>
            <a:ext cx="356616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79" y="1554480"/>
            <a:ext cx="3566160" cy="82296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627632"/>
            <a:ext cx="329184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Corporate Capability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560320"/>
            <a:ext cx="329184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Calibri"/>
              </a:rPr>
              <a:t>L&amp;D, delivery and transformation leaders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383280"/>
            <a:ext cx="3291840" cy="2377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•  Tailored team training and labs</a:t>
            </a:r>
          </a:p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•  Project-based enablement</a:t>
            </a:r>
          </a:p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•  Assessments and upskilling plans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554480"/>
            <a:ext cx="356616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19" y="1554480"/>
            <a:ext cx="3566160" cy="822960"/>
          </a:xfrm>
          <a:prstGeom prst="roundRect">
            <a:avLst>
              <a:gd name="adj" fmla="val 6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1627632"/>
            <a:ext cx="329184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Tech Academy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560320"/>
            <a:ext cx="329184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4F46E5"/>
                </a:solidFill>
                <a:latin typeface="Calibri"/>
              </a:rPr>
              <a:t>Professionals, career switchers, practitioners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3383280"/>
            <a:ext cx="3291840" cy="2377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•  Live and recorded programmes</a:t>
            </a:r>
          </a:p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•  Projects and interview preparation</a:t>
            </a:r>
          </a:p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•  Free demos and Friday workshops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Each journey has its own entry point. Pick yours at infiante360techacademy.com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Infinate360  ·  infiante360techacademy.com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510528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Calibri"/>
              </a:rPr>
              <a:t>COURSES WE OFFER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0584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Programmes, fees and timings</a:t>
            </a:r>
          </a:p>
        </p:txBody>
      </p:sp>
      <p:pic>
        <p:nvPicPr>
          <p:cNvPr id="5" name="Picture 4" descr="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74320"/>
            <a:ext cx="946404" cy="54864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2377440"/>
                <a:gridCol w="3017520"/>
                <a:gridCol w="1371600"/>
              </a:tblGrid>
              <a:tr h="508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Programme</a:t>
                      </a:r>
                    </a:p>
                  </a:txBody>
                  <a:tcPr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Format</a:t>
                      </a:r>
                    </a:p>
                  </a:txBody>
                  <a:tcPr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Timing (IST)</a:t>
                      </a:r>
                    </a:p>
                  </a:txBody>
                  <a:tcPr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Fee</a:t>
                      </a:r>
                    </a:p>
                  </a:txBody>
                  <a:tcPr anchor="ctr">
                    <a:solidFill>
                      <a:srgbClr val="4F46E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AEP Launchpad bootcamp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Live, 3 hours + test series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Evening 6–9 PM; next date on site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₹3,000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Live AEP Foundations batch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Live, 2 weeks, Mon–Fri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8:00–9:30 AM, from 15 Oct 2026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See site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Friday hands-on workshops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Live, one AEP skill each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Fridays from 16 Oct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See site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Adobe MarTech + Agentic AI Career Accelerator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Live online, 90 days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Batch timings shared at registration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₹60,000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AEP, AJO &amp; CJA: Foundation + Advanced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Recorded, self-paced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Learn any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₹60,000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Single-tool courses (RTCDP, AJO, CJA, Analytics, Web SDK, Agentic AI)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Focused paths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On request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On request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CXO Hive: Executive &amp; Architecture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Live + 1 month support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By cohort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₹1,00,000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Live Customised MarTech Program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Live, individuals or teams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Agreed with you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₹1,00,000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Fees as published on the website; 'See site' items are confirmed at registration. Corporate pricing is quoted per engagement.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Infinate360  ·  infiante360techacademy.com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10528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Calibri"/>
              </a:rPr>
              <a:t>BEGINNER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0584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TOC: AEP Launchpad and Foundations batch</a:t>
            </a:r>
          </a:p>
        </p:txBody>
      </p:sp>
      <p:pic>
        <p:nvPicPr>
          <p:cNvPr id="5" name="Picture 4" descr="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74320"/>
            <a:ext cx="946404" cy="548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1463040"/>
            <a:ext cx="353568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82296" cy="4480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326136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Calibri"/>
              </a:rPr>
              <a:t>AEP Launchpad (3 hours)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3261360" cy="3931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•  Welcome: AEP in one picture</a:t>
            </a:r>
          </a:p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•  XDM schemas and datasets</a:t>
            </a:r>
          </a:p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•  Ingestion basics: load, map, read errors</a:t>
            </a:r>
          </a:p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•  Identity and Real-Time Profile</a:t>
            </a:r>
          </a:p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•  Segmentation and activation basics</a:t>
            </a:r>
          </a:p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•  Free interview and certification test series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2920" y="1463040"/>
            <a:ext cx="353568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2920" y="1463040"/>
            <a:ext cx="82296" cy="4480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5800" y="1554480"/>
            <a:ext cx="326136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Calibri"/>
              </a:rPr>
              <a:t>Foundations batch (2 weeks)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5800" y="1965960"/>
            <a:ext cx="3261360" cy="3931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•  Live, Monday to Friday, 8:00–9:30 AM IST</a:t>
            </a:r>
          </a:p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•  Starts 15 October 2026</a:t>
            </a:r>
          </a:p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•  AEP end-to-end fundamentals</a:t>
            </a:r>
          </a:p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•  Hands-on labs each session</a:t>
            </a:r>
          </a:p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•  Beginner friendly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7200" y="1463040"/>
            <a:ext cx="353568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7200" y="1463040"/>
            <a:ext cx="82296" cy="4480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0080" y="1554480"/>
            <a:ext cx="326136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Calibri"/>
              </a:rPr>
              <a:t>Friday workshops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0080" y="1965960"/>
            <a:ext cx="3261360" cy="3931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•  One AEP skill per session</a:t>
            </a:r>
          </a:p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•  Schema, ingestion, identity, Profile, audiences</a:t>
            </a:r>
          </a:p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•  Recorded for learners</a:t>
            </a:r>
          </a:p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•  Dates and fees on the website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080760"/>
            <a:ext cx="110642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Interview focus: AEP data flow, XDM class choice, identity namespaces, merge policies, batch vs streaming.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Infinate360  ·  infiante360techacademy.com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10528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Calibri"/>
              </a:rPr>
              <a:t>FLAGSHIP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0584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TOC: Career Accelerator (90 days, live)</a:t>
            </a:r>
          </a:p>
        </p:txBody>
      </p:sp>
      <p:pic>
        <p:nvPicPr>
          <p:cNvPr id="5" name="Picture 4" descr="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74320"/>
            <a:ext cx="946404" cy="548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1463040"/>
            <a:ext cx="259461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82296" cy="4480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232029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Phase 1–2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2320290" cy="3931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•  AEP core: XDM, datasets, ingestion, Profile, Identity, Query Service</a:t>
            </a:r>
          </a:p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•  Web SDK, CJA and AJO: datastreams, connections, data views, real-time journeys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1850" y="1463040"/>
            <a:ext cx="259461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71850" y="1463040"/>
            <a:ext cx="82296" cy="4480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4730" y="1554480"/>
            <a:ext cx="232029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Phase 3–4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4730" y="1965960"/>
            <a:ext cx="2320290" cy="3931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•  RTCDP and activation: audiences, destinations, personalisation, validation</a:t>
            </a:r>
          </a:p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•  Architect patterns: APIs, integration, security, environments, QA, monitoring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5059" y="1463040"/>
            <a:ext cx="259461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5059" y="1463040"/>
            <a:ext cx="82296" cy="4480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7940" y="1554480"/>
            <a:ext cx="232029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Phase 5–6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7940" y="1965960"/>
            <a:ext cx="2320290" cy="3931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•  Agentic AI and MCP: governed tools and agents</a:t>
            </a:r>
          </a:p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•  Capstone and interview preparation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18269" y="1463040"/>
            <a:ext cx="259461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18269" y="1463040"/>
            <a:ext cx="82296" cy="4480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1149" y="1554480"/>
            <a:ext cx="232029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Projects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1149" y="1965960"/>
            <a:ext cx="2320290" cy="3931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•  Customer 360 data model</a:t>
            </a:r>
          </a:p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•  Real-time transaction journey</a:t>
            </a:r>
          </a:p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•  RTCDP activation</a:t>
            </a:r>
          </a:p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•  CJA executive reporting</a:t>
            </a:r>
          </a:p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•  Web SDK modernisation</a:t>
            </a:r>
          </a:p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•  Agentic AI marketing assistant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080760"/>
            <a:ext cx="110642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Fee ₹60,000. Career mapping, resume and LinkedIn guidance included. Roles are target pathways; no placement is guaranteed.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Infinate360  ·  infiante360techacademy.com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510528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Calibri"/>
              </a:rPr>
              <a:t>RECORDED, SELF-PACED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0584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TOC: AEP, AJO &amp; CJA: Foundation + Advanced Architecture</a:t>
            </a:r>
          </a:p>
        </p:txBody>
      </p:sp>
      <p:pic>
        <p:nvPicPr>
          <p:cNvPr id="5" name="Picture 4" descr="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74320"/>
            <a:ext cx="946404" cy="548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1463040"/>
            <a:ext cx="353568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82296" cy="4480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326136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Calibri"/>
              </a:rPr>
              <a:t>Foundation MarTech series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3261360" cy="3931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•  Adobe Experience Platform (AEP)</a:t>
            </a:r>
          </a:p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•  Adobe Journey Optimizer (AJO)</a:t>
            </a:r>
          </a:p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•  Customer Journey Analytics (CJA)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2920" y="1463040"/>
            <a:ext cx="353568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2920" y="1463040"/>
            <a:ext cx="82296" cy="4480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5800" y="1554480"/>
            <a:ext cx="326136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Calibri"/>
              </a:rPr>
              <a:t>Advanced digital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5800" y="1965960"/>
            <a:ext cx="3261360" cy="3931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•  Digital and MarTech architecture</a:t>
            </a:r>
          </a:p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•  Enterprise implementation patterns</a:t>
            </a:r>
          </a:p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•  Customer Data Platform architecture</a:t>
            </a:r>
          </a:p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•  AI and data-driven customer experience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7200" y="1463040"/>
            <a:ext cx="353568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7200" y="1463040"/>
            <a:ext cx="82296" cy="4480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0080" y="1554480"/>
            <a:ext cx="326136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Calibri"/>
              </a:rPr>
              <a:t>Included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0080" y="1965960"/>
            <a:ext cx="3261360" cy="3931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•  Recorded video lessons</a:t>
            </a:r>
          </a:p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•  Test series</a:t>
            </a:r>
          </a:p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•  ERD resources</a:t>
            </a:r>
          </a:p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•  E-library and extra learning material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080760"/>
            <a:ext cx="110642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Fee ₹60,000, one time. Also listed on MarTechJobs.io.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Infinate360  ·  infiante360techacademy.com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10528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Calibri"/>
              </a:rPr>
              <a:t>SINGLE-TOOL COURSES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0584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TOC: Real-Time CDP and Journey Optimizer</a:t>
            </a:r>
          </a:p>
        </p:txBody>
      </p:sp>
      <p:pic>
        <p:nvPicPr>
          <p:cNvPr id="5" name="Picture 4" descr="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74320"/>
            <a:ext cx="946404" cy="548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1463040"/>
            <a:ext cx="259461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82296" cy="4480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232029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RTCDP: Profiles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2320290" cy="3931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•  Real-Time Customer Profile, merge policies</a:t>
            </a:r>
          </a:p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•  Identity namespaces and graphs</a:t>
            </a:r>
          </a:p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•  Customer 360 design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1850" y="1463040"/>
            <a:ext cx="259461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71850" y="1463040"/>
            <a:ext cx="82296" cy="4480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4730" y="1554480"/>
            <a:ext cx="232029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RTCDP: Activation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4730" y="1965960"/>
            <a:ext cx="2320290" cy="3931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•  Batch, streaming and edge evaluation</a:t>
            </a:r>
          </a:p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•  Destinations, mapping, consent</a:t>
            </a:r>
          </a:p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•  Activation QA and reconciliation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5059" y="1463040"/>
            <a:ext cx="259461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5059" y="1463040"/>
            <a:ext cx="82296" cy="4480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7940" y="1554480"/>
            <a:ext cx="232029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AJO: 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7940" y="1965960"/>
            <a:ext cx="2320290" cy="3931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•  How AJO uses AEP profiles and events</a:t>
            </a:r>
          </a:p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•  Event vs audience journeys</a:t>
            </a:r>
          </a:p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•  Conditions, waits, personalisation, decisioning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18269" y="1463040"/>
            <a:ext cx="259461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18269" y="1463040"/>
            <a:ext cx="82296" cy="4480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1149" y="1554480"/>
            <a:ext cx="232029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AJO: Govern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1149" y="1965960"/>
            <a:ext cx="2320290" cy="3931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•  Suppression, frequency, consent</a:t>
            </a:r>
          </a:p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•  Testing and approvals</a:t>
            </a:r>
          </a:p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•  Journey reporting and troubleshooting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080760"/>
            <a:ext cx="110642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Interview focus: suppression audiences, event vs audience journeys, why a journey does not trigger.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Infinate360  ·  infiante360techacademy.com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510528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Calibri"/>
              </a:rPr>
              <a:t>SINGLE-TOOL COURSES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0584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TOC: Customer Journey Analytics and Web SDK</a:t>
            </a:r>
          </a:p>
        </p:txBody>
      </p:sp>
      <p:pic>
        <p:nvPicPr>
          <p:cNvPr id="5" name="Picture 4" descr="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74320"/>
            <a:ext cx="946404" cy="548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1463040"/>
            <a:ext cx="259461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82296" cy="4480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232029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CJA: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2320290" cy="3931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•  Connections and datasets</a:t>
            </a:r>
          </a:p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•  Person ID strategy</a:t>
            </a:r>
          </a:p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•  Lookups and profile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1850" y="1463040"/>
            <a:ext cx="259461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71850" y="1463040"/>
            <a:ext cx="82296" cy="4480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4730" y="1554480"/>
            <a:ext cx="232029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CJA: Analyse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4730" y="1965960"/>
            <a:ext cx="2320290" cy="3931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•  Data views, sessions, attribution</a:t>
            </a:r>
          </a:p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•  Workspace, flow and fallout</a:t>
            </a:r>
          </a:p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•  Adobe Analytics to CJA migration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5059" y="1463040"/>
            <a:ext cx="259461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5059" y="1463040"/>
            <a:ext cx="82296" cy="4480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7940" y="1554480"/>
            <a:ext cx="232029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Web SDK: Implement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7940" y="1965960"/>
            <a:ext cx="2320290" cy="3931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•  Edge Network, XDM data layers, datastreams</a:t>
            </a:r>
          </a:p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•  Adobe Tags extension, ECID</a:t>
            </a:r>
          </a:p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•  Page view and interaction events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18269" y="1463040"/>
            <a:ext cx="259461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18269" y="1463040"/>
            <a:ext cx="82296" cy="4480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1149" y="1554480"/>
            <a:ext cx="232029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Web SDK: Validate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1149" y="1965960"/>
            <a:ext cx="2320290" cy="3931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•  Consent and event forwarding</a:t>
            </a:r>
          </a:p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•  Debugging and dataset previews</a:t>
            </a:r>
          </a:p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•  Migration from AppMeasurement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080760"/>
            <a:ext cx="110642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Interview focus: CJA vs Adobe Analytics, data views, missing dataset debugging, Web SDK validation.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Infinate360  ·  infiante360techacademy.com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510528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Calibri"/>
              </a:rPr>
              <a:t>SINGLE-TOOL COURSES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0584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TOC: Adobe Analytics, Agentic AI &amp; MCP, certification prep</a:t>
            </a:r>
          </a:p>
        </p:txBody>
      </p:sp>
      <p:pic>
        <p:nvPicPr>
          <p:cNvPr id="5" name="Picture 4" descr="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74320"/>
            <a:ext cx="946404" cy="548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1463040"/>
            <a:ext cx="353568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82296" cy="4480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326136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Calibri"/>
              </a:rPr>
              <a:t>Adobe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3261360" cy="3931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•  Measurement plans and KPIs</a:t>
            </a:r>
          </a:p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•  Variables, events, Adobe Tags, Web SDK</a:t>
            </a:r>
          </a:p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•  Validation and QA</a:t>
            </a:r>
          </a:p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•  Workspace reporting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2920" y="1463040"/>
            <a:ext cx="353568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2920" y="1463040"/>
            <a:ext cx="82296" cy="4480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5800" y="1554480"/>
            <a:ext cx="326136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Calibri"/>
              </a:rPr>
              <a:t>Agentic AI &amp; MCP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5800" y="1965960"/>
            <a:ext cx="3261360" cy="3931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•  Agents, planning and tool use</a:t>
            </a:r>
          </a:p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•  MCP servers, clients, least privilege</a:t>
            </a:r>
          </a:p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•  Human approval, logging, consent</a:t>
            </a:r>
          </a:p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•  Marketing assistant capstone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7200" y="1463040"/>
            <a:ext cx="353568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7200" y="1463040"/>
            <a:ext cx="82296" cy="4480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0080" y="1554480"/>
            <a:ext cx="326136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Calibri"/>
              </a:rPr>
              <a:t>AEP certification prep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0080" y="1965960"/>
            <a:ext cx="3261360" cy="3931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•  Read the current exam guide</a:t>
            </a:r>
          </a:p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•  Core topics review</a:t>
            </a:r>
          </a:p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•  Scenario and timed practice</a:t>
            </a:r>
          </a:p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•  Independent of Adobe; no pass guaranteed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080760"/>
            <a:ext cx="110642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Pricing for single-tool courses is shared on request.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Infinate360  ·  infiante360techacademy.com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10528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Calibri"/>
              </a:rPr>
              <a:t>ADOBE MARTECH + AGENTIC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0584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Bootcamp deep dive: 60 hours, 6 phases</a:t>
            </a:r>
          </a:p>
        </p:txBody>
      </p:sp>
      <p:pic>
        <p:nvPicPr>
          <p:cNvPr id="5" name="Picture 4" descr="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74320"/>
            <a:ext cx="946404" cy="548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1417320"/>
            <a:ext cx="35661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00200"/>
            <a:ext cx="594360" cy="5943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59436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1508760"/>
            <a:ext cx="2651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Calibri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1828800"/>
            <a:ext cx="26517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MarTech Foundations &amp; AEP Architecture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417320"/>
            <a:ext cx="35661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34840" y="1600200"/>
            <a:ext cx="594360" cy="5943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600200"/>
            <a:ext cx="59436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59" y="1508760"/>
            <a:ext cx="2651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Calibri"/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59" y="1828800"/>
            <a:ext cx="26517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Data, XDM Schemas &amp; Identity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417320"/>
            <a:ext cx="35661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83879" y="1600200"/>
            <a:ext cx="594360" cy="5943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1600200"/>
            <a:ext cx="59436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399" y="1508760"/>
            <a:ext cx="2651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Calibri"/>
              </a:rPr>
              <a:t>Phase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399" y="1828800"/>
            <a:ext cx="26517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Segmentation, Web SDK &amp; RTCDP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514600"/>
            <a:ext cx="35661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2697480"/>
            <a:ext cx="594360" cy="5943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697480"/>
            <a:ext cx="59436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19" y="2606040"/>
            <a:ext cx="2651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Calibri"/>
              </a:rPr>
              <a:t>Phase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2926080"/>
            <a:ext cx="26517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Data Layer, Analytics &amp; Routing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79" y="2514600"/>
            <a:ext cx="35661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434840" y="2697480"/>
            <a:ext cx="594360" cy="5943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2697480"/>
            <a:ext cx="59436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59" y="2606040"/>
            <a:ext cx="2651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Calibri"/>
              </a:rPr>
              <a:t>Phase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59" y="2926080"/>
            <a:ext cx="26517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AJO Journeys &amp; CJA Dashboards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19" y="2514600"/>
            <a:ext cx="35661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183879" y="2697480"/>
            <a:ext cx="594360" cy="5943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79" y="2697480"/>
            <a:ext cx="59436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399" y="2606040"/>
            <a:ext cx="2651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Calibri"/>
              </a:rPr>
              <a:t>Phase 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399" y="2926080"/>
            <a:ext cx="26517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Agentic AI &amp; Capstone Portfolio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70332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Everything you work 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114800"/>
            <a:ext cx="3566160" cy="96012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160520"/>
            <a:ext cx="3383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1">
                <a:solidFill>
                  <a:srgbClr val="4F46E5"/>
                </a:solidFill>
                <a:latin typeface="Calibri"/>
              </a:rPr>
              <a:t>Agentic AI &amp; MCP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4480560"/>
            <a:ext cx="33832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Agents for real-time decisions and journey optimisation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79" y="4114800"/>
            <a:ext cx="3566160" cy="96012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07407" y="4160520"/>
            <a:ext cx="3383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1">
                <a:solidFill>
                  <a:srgbClr val="4F46E5"/>
                </a:solidFill>
                <a:latin typeface="Calibri"/>
              </a:rPr>
              <a:t>Adobe Experience Platform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07407" y="4480560"/>
            <a:ext cx="33832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Schemas, identity graphs, ingestion, Query Service, segmentation, RTCDP activation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19" y="4114800"/>
            <a:ext cx="3566160" cy="96012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56447" y="4160520"/>
            <a:ext cx="3383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1">
                <a:solidFill>
                  <a:srgbClr val="4F46E5"/>
                </a:solidFill>
                <a:latin typeface="Calibri"/>
              </a:rPr>
              <a:t>Customer Journey Analytics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56447" y="4480560"/>
            <a:ext cx="33832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Connections, data views, attribution models, funnel analysis, executive dashboards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5166360"/>
            <a:ext cx="3566160" cy="96012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5212080"/>
            <a:ext cx="3383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1">
                <a:solidFill>
                  <a:srgbClr val="4F46E5"/>
                </a:solidFill>
                <a:latin typeface="Calibri"/>
              </a:rPr>
              <a:t>Web SDK &amp; Edge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5532120"/>
            <a:ext cx="33832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sendEvent tracking, Tags, data layer, dynamic datastream routing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97679" y="5166360"/>
            <a:ext cx="3566160" cy="96012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07407" y="5212080"/>
            <a:ext cx="3383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1">
                <a:solidFill>
                  <a:srgbClr val="4F46E5"/>
                </a:solidFill>
                <a:latin typeface="Calibri"/>
              </a:rPr>
              <a:t>Adobe Journey Optimizer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07407" y="5532120"/>
            <a:ext cx="33832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Omnichannel orchestration, offer decisioning, email, SMS, push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46719" y="5166360"/>
            <a:ext cx="3566160" cy="96012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56447" y="5212080"/>
            <a:ext cx="3383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1">
                <a:solidFill>
                  <a:srgbClr val="4F46E5"/>
                </a:solidFill>
                <a:latin typeface="Calibri"/>
              </a:rPr>
              <a:t>APIs, governance &amp; consulting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56447" y="5532120"/>
            <a:ext cx="33832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Enterprise architecture, governance, GDPR-aware consent, consulting readiness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Hours, phases and schedule are from the bootcamp plan. Batch dates and fees are confirmed at registration.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Infinate360  ·  infiante360techacademy.com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698480" y="6510528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Calibri"/>
              </a:rPr>
              <a:t>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0584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10 enterprise-style projects you build</a:t>
            </a:r>
          </a:p>
        </p:txBody>
      </p:sp>
      <p:pic>
        <p:nvPicPr>
          <p:cNvPr id="5" name="Picture 4" descr="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74320"/>
            <a:ext cx="946404" cy="54864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4206240"/>
                <a:gridCol w="2377440"/>
                <a:gridCol w="3931920"/>
              </a:tblGrid>
              <a:tr h="4156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Project</a:t>
                      </a:r>
                    </a:p>
                  </a:txBody>
                  <a:tcPr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Industry</a:t>
                      </a:r>
                    </a:p>
                  </a:txBody>
                  <a:tcPr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Key tools</a:t>
                      </a:r>
                    </a:p>
                  </a:txBody>
                  <a:tcPr anchor="ctr">
                    <a:solidFill>
                      <a:srgbClr val="4F46E5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Banking Customer 360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Banking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AEP, XDM, identity, Profile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Credit Card Upsell Engine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Banking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RTCDP segments, offer decisioning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Loan Propensity 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Banking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AEP Data Science Workspace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Churn Prediction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Wealth management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Predictive analytics, AJO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Retail Recommendation Engine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Retail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Behavioural segmentation, personalisation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AJO Welcome Journey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Banking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AJO, Web SDK, Tags, email/SMS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Web SDK Implementation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Multi-industry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Web SDK, data layer, Tags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CJA Dashboard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Marketing analytics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CJA, attribution models, dashboards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Agentic AI Marketing Assistant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All industries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Agentic workflows, GenAI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5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MCP Enterprise Orchestration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Enterprise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MCP, agentic AI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Built on practice and sandbox environments with synthetic data. A portfolio shows your skills; it does not guarantee a job.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Infinate360  ·  infiante360techacademy.com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10528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Calibri"/>
              </a:rPr>
              <a:t>DELIVERY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0584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Daily assignments: 60 days of proof of work</a:t>
            </a:r>
          </a:p>
        </p:txBody>
      </p:sp>
      <p:pic>
        <p:nvPicPr>
          <p:cNvPr id="5" name="Picture 4" descr="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74320"/>
            <a:ext cx="946404" cy="54864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560320"/>
                <a:gridCol w="5486400"/>
                <a:gridCol w="1920240"/>
              </a:tblGrid>
              <a:tr h="600891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Days</a:t>
                      </a:r>
                    </a:p>
                  </a:txBody>
                  <a:tcPr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What you deliver</a:t>
                      </a:r>
                    </a:p>
                  </a:txBody>
                  <a:tcPr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Submission</a:t>
                      </a:r>
                    </a:p>
                  </a:txBody>
                  <a:tcPr anchor="ctr">
                    <a:solidFill>
                      <a:srgbClr val="4F46E5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1-6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Foundations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MarTech stack diagram, AEP architecture flow, use-case design doc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PDF / diagram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7-12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Data &amp; XDM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XDM schema design, identity namespace config, unified profile screenshot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Screenshot + doc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13-24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Segmentation &amp; Web SDK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RTCDP activation config, Web SDK sendEvent tracking, event payload JSON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Screenshot + JSON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25-42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Data layer &amp; routing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Analytics variable mapping, dynamic datastream routing, multi-destination setup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Config export + report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43-54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AJO &amp; CJA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Journey architecture, offer decisioning, CJA attribution report, executive dashboard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AJO / CJA export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55-60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Capstone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End-to-end architecture, governance policy, portfolio submission, interview assessment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Portfolio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By day 60 you have a documented set of deliverables you can show employers or clients.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Infinate360  ·  infiante360techacademy.com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10528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Calibri"/>
              </a:rPr>
              <a:t>HOW THE BOOTCAMP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0584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Weekly schedule and learning ecosystem</a:t>
            </a:r>
          </a:p>
        </p:txBody>
      </p:sp>
      <p:pic>
        <p:nvPicPr>
          <p:cNvPr id="5" name="Picture 4" descr="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74320"/>
            <a:ext cx="946404" cy="548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146304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0020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5486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1691640"/>
            <a:ext cx="2651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Calibri"/>
              </a:rPr>
              <a:t>Mon-Fri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40280"/>
            <a:ext cx="329184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Calibri"/>
              </a:rPr>
              <a:t>8:30-11:30 AM IST, 3-hour live session: new module plus hands-on AEP sandbox tasks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46304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34840" y="160020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600200"/>
            <a:ext cx="5486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59" y="1691640"/>
            <a:ext cx="2651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Calibri"/>
              </a:rPr>
              <a:t>Saturday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240280"/>
            <a:ext cx="329184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Calibri"/>
              </a:rPr>
              <a:t>About 1 hr 15 min, flexible morning: live Q&amp;A, assignment review, career guidance, interview prep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46304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83879" y="160020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1600200"/>
            <a:ext cx="5486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399" y="1691640"/>
            <a:ext cx="2651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Calibri"/>
              </a:rPr>
              <a:t>Sunday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240280"/>
            <a:ext cx="329184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Calibri"/>
              </a:rPr>
              <a:t>Self-paced: finish assignments, replay recordings, prepare for the next week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4290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What you get access 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40480"/>
            <a:ext cx="35661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886200"/>
            <a:ext cx="3383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Calibri"/>
              </a:rPr>
              <a:t>Live courses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224528"/>
            <a:ext cx="3383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Interactive AEP, AJO, CJA and RTCDP architecture workshops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79" y="3840480"/>
            <a:ext cx="35661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07407" y="3886200"/>
            <a:ext cx="3383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Calibri"/>
              </a:rPr>
              <a:t>Video courses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7" y="4224528"/>
            <a:ext cx="3383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Short focused videos on schemas, identities, Query Service, segmentation, journeys, activation, reporting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3840480"/>
            <a:ext cx="35661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56447" y="3886200"/>
            <a:ext cx="3383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Calibri"/>
              </a:rPr>
              <a:t>E-library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7" y="4224528"/>
            <a:ext cx="3383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Architecture documents, implementation guides, use cases, interview material, debugging guides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983480"/>
            <a:ext cx="35661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029200"/>
            <a:ext cx="3383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Calibri"/>
              </a:rPr>
              <a:t>Test series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367528"/>
            <a:ext cx="3383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Scenario-based questions, certification-readiness tests, architecture reviews, troubleshooting exercises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79" y="4983480"/>
            <a:ext cx="35661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07407" y="5029200"/>
            <a:ext cx="3383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Calibri"/>
              </a:rPr>
              <a:t>Simulators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07407" y="5367528"/>
            <a:ext cx="3383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Banking, AEP, insurance, telecom, airline and hospitality practice environments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19" y="4983480"/>
            <a:ext cx="35661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56447" y="5029200"/>
            <a:ext cx="3383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Calibri"/>
              </a:rPr>
              <a:t>Sandbox access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56447" y="5367528"/>
            <a:ext cx="3383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Hands-on practice environment for assignments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Schedule is from the bootcamp plan; batch dates are confirmed at registration. Replay access and sandbox terms apply as stated at enrolment.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Infinate360  ·  infiante360techacademy.com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98480" y="6510528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Calibri"/>
              </a:rPr>
              <a:t>REFERENCE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0584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AI agent for journey optimisation: six layers</a:t>
            </a:r>
          </a:p>
        </p:txBody>
      </p:sp>
      <p:pic>
        <p:nvPicPr>
          <p:cNvPr id="5" name="Picture 4" descr="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74320"/>
            <a:ext cx="946404" cy="54864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669280"/>
                <a:gridCol w="3017520"/>
              </a:tblGrid>
              <a:tr h="57476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Interface</a:t>
                      </a:r>
                    </a:p>
                  </a:txBody>
                  <a:tcPr anchor="ctr">
                    <a:solidFill>
                      <a:srgbClr val="4F46E5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Data sources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Web/app SDK, CRM, commerce and offline events land in AEP and map to XDM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Edge Network, source connectors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Identity graph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Links device, CRM and loyalty identifiers into one identity cluster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Identity Service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Real-Time Profile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Merges identity-linked fragments into one addressable profile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Profile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Segmentation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Streaming and batch audience qualification on the unified profile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Real-Time CDP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Journey trigger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Emits event triggers on segment change or a real-time event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Streaming segmentation, Edge events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477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AI agent decision layer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Reads profile, event and segment state, scores candidate actions, proposes a recommendation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MCP tool calls into AEP / CDP / AJO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Each layer is a hard boundary: the agent never bypasses a layer to reach raw source data or to deliver a message directly. This is a design pattern, not a client implementation.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Infinate360  ·  infiante360techacademy.com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10528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Calibri"/>
              </a:rPr>
              <a:t>REFERENCE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0584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AI agent workflow and decision logic</a:t>
            </a:r>
          </a:p>
        </p:txBody>
      </p:sp>
      <p:pic>
        <p:nvPicPr>
          <p:cNvPr id="5" name="Picture 4" descr="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74320"/>
            <a:ext cx="946404" cy="548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146304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920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Customer event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1828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/>
            </a:r>
          </a:p>
        </p:txBody>
      </p:sp>
      <p:sp>
        <p:nvSpPr>
          <p:cNvPr id="9" name="Right Arrow 8"/>
          <p:cNvSpPr/>
          <p:nvPr/>
        </p:nvSpPr>
        <p:spPr>
          <a:xfrm>
            <a:off x="2487168" y="1783080"/>
            <a:ext cx="320040" cy="27432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34640" y="146304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508760"/>
            <a:ext cx="1920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AEP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874519"/>
            <a:ext cx="1828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identity + profile + segments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773168" y="1783080"/>
            <a:ext cx="320040" cy="27432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0640" y="146304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508760"/>
            <a:ext cx="1920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4F46E5"/>
                </a:solidFill>
                <a:latin typeface="Calibri"/>
              </a:rPr>
              <a:t>AI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59" y="1874519"/>
            <a:ext cx="1828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score + rank + policy check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059168" y="1783080"/>
            <a:ext cx="320040" cy="27432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06640" y="146304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1508760"/>
            <a:ext cx="1920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Recommendation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1874519"/>
            <a:ext cx="1828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action, channel, confidence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345167" y="1783080"/>
            <a:ext cx="320040" cy="27432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92640" y="146304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1508760"/>
            <a:ext cx="1920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AJO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1874519"/>
            <a:ext cx="1828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consent, caps, delivery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468880"/>
            <a:ext cx="11064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Outcomes from AJO feed the agent's next decision.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2926080"/>
            <a:ext cx="539496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2926080"/>
            <a:ext cx="82296" cy="30175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017520"/>
            <a:ext cx="5120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Seven workflow steps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429000"/>
            <a:ext cx="5120640" cy="246887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•  Event capture via Edge Network, mapped to XDM</a:t>
            </a:r>
          </a:p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•  Identity resolution and profile update</a:t>
            </a:r>
          </a:p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•  Context assembly with one MCP read</a:t>
            </a:r>
          </a:p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•  Decision: score candidate actions</a:t>
            </a:r>
          </a:p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•  Recommendation: action, content ID, channel, confidence, rationale</a:t>
            </a:r>
          </a:p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•  Execution in AJO with frequency cap, consent, fallback</a:t>
            </a:r>
          </a:p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•  Feedback: outcomes become the next reward signal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2926080"/>
            <a:ext cx="539496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2926080"/>
            <a:ext cx="82296" cy="30175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017520"/>
            <a:ext cx="5120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Decision logic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429000"/>
            <a:ext cx="5120640" cy="246887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•  Trigger: cart abandonment, churn-risk signal, high-intent browse</a:t>
            </a:r>
          </a:p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•  Candidates scoped to segment and journey state</a:t>
            </a:r>
          </a:p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•  Scoring on propensity and past engagement of similar profiles</a:t>
            </a:r>
          </a:p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•  Policy gate: consent, frequency caps, brand and legal rules</a:t>
            </a:r>
          </a:p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•  Emit, or hold: no recommendation rather than a default</a:t>
            </a:r>
          </a:p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•  The agent recommends; only AJO delivers messages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Infinate360  ·  infiante360techacademy.com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0" y="6510528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Calibri"/>
              </a:rPr>
              <a:t>CAREER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0584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Interview preparation</a:t>
            </a:r>
          </a:p>
        </p:txBody>
      </p:sp>
      <p:pic>
        <p:nvPicPr>
          <p:cNvPr id="5" name="Picture 4" descr="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74320"/>
            <a:ext cx="946404" cy="548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1554480"/>
            <a:ext cx="3566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73736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5486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783080"/>
            <a:ext cx="25603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Scenario test series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320040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Interview-style AEP scenarios on segments, identity, merge policies and consent. Free with the bootcamp.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554480"/>
            <a:ext cx="3566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80559" y="17373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1737360"/>
            <a:ext cx="5486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79" y="1783080"/>
            <a:ext cx="25603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Whiteboard practice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423160"/>
            <a:ext cx="320040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Architect-style questions: Customer 360, sources to activation, batch vs streaming.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554480"/>
            <a:ext cx="3566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599" y="173736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9" y="1737360"/>
            <a:ext cx="5486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19" y="1783080"/>
            <a:ext cx="25603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Portfolio projects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9" y="2423160"/>
            <a:ext cx="320040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Six enterprise-style projects documented so you can walk through them in an interview.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749039"/>
            <a:ext cx="3566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39319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931920"/>
            <a:ext cx="5486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977639"/>
            <a:ext cx="25603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Resume and LinkedIn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320040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Positioning guidance for AEP, AJO, CJA and AI roles.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79" y="3749039"/>
            <a:ext cx="3566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480559" y="393192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59" y="3931920"/>
            <a:ext cx="5486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79" y="3977639"/>
            <a:ext cx="25603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Career mapping call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59" y="4617720"/>
            <a:ext cx="320040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Role-by-role map: developer, data engineer, analyst, QA, architect.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19" y="3749039"/>
            <a:ext cx="3566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29599" y="39319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9" y="3931920"/>
            <a:ext cx="5486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19" y="3977639"/>
            <a:ext cx="25603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Free quiz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599" y="4617720"/>
            <a:ext cx="320040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20 banking scenarios at infiante360techacademy.com/academy/aep-bfsi-quiz.html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Preparation improves readiness. It does not guarantee interviews, offers or placement.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Infinate360  ·  infiante360techacademy.com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6510528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Calibri"/>
              </a:rPr>
              <a:t>TALENT FOR CLIENT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0584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How C2C (corp-to-corp) engagement works</a:t>
            </a:r>
          </a:p>
        </p:txBody>
      </p:sp>
      <p:pic>
        <p:nvPicPr>
          <p:cNvPr id="5" name="Picture 4" descr="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74320"/>
            <a:ext cx="946404" cy="548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2801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C2C means a contractor engages through their own registered business entity, which contracts with the vendor or client and invoices for the work, instead of being a salaried employee.</a:t>
            </a:r>
          </a:p>
        </p:txBody>
      </p:sp>
      <p:sp>
        <p:nvSpPr>
          <p:cNvPr id="7" name="Oval 6"/>
          <p:cNvSpPr/>
          <p:nvPr/>
        </p:nvSpPr>
        <p:spPr>
          <a:xfrm>
            <a:off x="1051560" y="2194560"/>
            <a:ext cx="731520" cy="7315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94560"/>
            <a:ext cx="73152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Requirement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173736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Client shares role, skills, duration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965960" y="2423160"/>
            <a:ext cx="365760" cy="27432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26080" y="219456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2194560"/>
            <a:ext cx="73152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3017520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383280"/>
            <a:ext cx="173736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We shortlist vetted MarTech profiles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840480" y="2423160"/>
            <a:ext cx="365760" cy="27432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00599" y="2194560"/>
            <a:ext cx="731520" cy="7315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599" y="2194560"/>
            <a:ext cx="73152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79" y="3017520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Interview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79" y="3383280"/>
            <a:ext cx="173736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Client interviews the consultant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714999" y="2423160"/>
            <a:ext cx="365760" cy="27432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75119" y="219456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19" y="2194560"/>
            <a:ext cx="73152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199" y="3017520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Contract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199" y="3383280"/>
            <a:ext cx="173736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MSA / SOW between the two entities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589519" y="2423160"/>
            <a:ext cx="365760" cy="27432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549640" y="2194560"/>
            <a:ext cx="731520" cy="7315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2194560"/>
            <a:ext cx="73152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9" y="3017520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Deliver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19" y="3383280"/>
            <a:ext cx="173736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Consultant delivers on the project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464040" y="2423160"/>
            <a:ext cx="365760" cy="27432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424160" y="219456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24160" y="2194560"/>
            <a:ext cx="73152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3017520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Invoice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3383280"/>
            <a:ext cx="173736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Entity invoices on agreed terms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297680"/>
            <a:ext cx="53949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4297680"/>
            <a:ext cx="82296" cy="17373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389120"/>
            <a:ext cx="5120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For clients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800600"/>
            <a:ext cx="5120640" cy="118871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•  Specialist AEP, RTCDP, AJO and CJA contractors</a:t>
            </a:r>
          </a:p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•  Flexible duration, no employment overhead</a:t>
            </a:r>
          </a:p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•  Interview before you commit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4297680"/>
            <a:ext cx="53949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4297680"/>
            <a:ext cx="82296" cy="1737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389120"/>
            <a:ext cx="5120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For consultants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800600"/>
            <a:ext cx="5120640" cy="118871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•  You contract through your own entity</a:t>
            </a:r>
          </a:p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•  You manage your own taxes and benefits</a:t>
            </a:r>
          </a:p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•  Skills-first matching to relevant projects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Rates, payment terms and eligibility are agreed per engagement and in writing. Tax and legal treatment varies by country: take professional advice.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Infinate360  ·  infiante360techacademy.com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98480" y="6510528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Calibri"/>
              </a:rPr>
              <a:t>ENTERPRISE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0584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MarTech Centre of Excellence: how we set it up</a:t>
            </a:r>
          </a:p>
        </p:txBody>
      </p:sp>
      <p:pic>
        <p:nvPicPr>
          <p:cNvPr id="5" name="Picture 4" descr="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74320"/>
            <a:ext cx="946404" cy="548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1554480"/>
            <a:ext cx="256032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560320" cy="640080"/>
          </a:xfrm>
          <a:prstGeom prst="roundRect">
            <a:avLst>
              <a:gd name="adj" fmla="val 6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25603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1. Assess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2286000" cy="2286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•  Current stack and skills</a:t>
            </a:r>
          </a:p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•  Ambition and sponsors</a:t>
            </a:r>
          </a:p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•  Use-case backlog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27248" y="2926080"/>
            <a:ext cx="256032" cy="27432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83280" y="1554480"/>
            <a:ext cx="256032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83280" y="1554480"/>
            <a:ext cx="2560320" cy="64008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554480"/>
            <a:ext cx="25603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2.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31720"/>
            <a:ext cx="2286000" cy="2286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•  Operating model and roles</a:t>
            </a:r>
          </a:p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•  Governance and consent</a:t>
            </a:r>
          </a:p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•  Architecture standards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61888" y="2926080"/>
            <a:ext cx="256032" cy="27432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1554480"/>
            <a:ext cx="256032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1554480"/>
            <a:ext cx="2560320" cy="640080"/>
          </a:xfrm>
          <a:prstGeom prst="roundRect">
            <a:avLst>
              <a:gd name="adj" fmla="val 6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554480"/>
            <a:ext cx="25603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3. 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331720"/>
            <a:ext cx="2286000" cy="2286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•  Reusable templates and data models</a:t>
            </a:r>
          </a:p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•  Environments and release process</a:t>
            </a:r>
          </a:p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•  Enablement and training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96528" y="2926080"/>
            <a:ext cx="256032" cy="27432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52560" y="1554480"/>
            <a:ext cx="256032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2560" y="1554480"/>
            <a:ext cx="2560320" cy="64008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1554480"/>
            <a:ext cx="25603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4. Operate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2331720"/>
            <a:ext cx="2286000" cy="2286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•  Intake and prioritisation</a:t>
            </a:r>
          </a:p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•  Quality and measurement</a:t>
            </a:r>
          </a:p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•  Continuous improvement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92040"/>
            <a:ext cx="110642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892040"/>
            <a:ext cx="82296" cy="1188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983479"/>
            <a:ext cx="1078991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What a CoE gives you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394959"/>
            <a:ext cx="10789919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•  One owner for MarTech standards, consent and data quality</a:t>
            </a:r>
          </a:p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•  Faster delivery through reusable assets and trained teams</a:t>
            </a:r>
          </a:p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•  A clear path from GCC capability to global delivery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Infinate360  ·  infiante360techacademy.com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6510528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Calibri"/>
              </a:rPr>
              <a:t>CORPORATE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0584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For organisations: CXO Hive and Live Customised</a:t>
            </a:r>
          </a:p>
        </p:txBody>
      </p:sp>
      <p:pic>
        <p:nvPicPr>
          <p:cNvPr id="5" name="Picture 4" descr="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74320"/>
            <a:ext cx="946404" cy="548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1463040"/>
            <a:ext cx="539496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82296" cy="42062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120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CXO Hive Programme: ₹1,00,000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5120640" cy="36575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Calibri"/>
              </a:rPr>
              <a:t>•  Setting up a MarTech / AI Centre of Excellence</a:t>
            </a:r>
          </a:p>
          <a:p>
            <a:pPr algn="l"/>
            <a:r>
              <a:rPr sz="1800" b="0">
                <a:solidFill>
                  <a:srgbClr val="334155"/>
                </a:solidFill>
                <a:latin typeface="Calibri"/>
              </a:rPr>
              <a:t>•  AI and agentic AI strategy</a:t>
            </a:r>
          </a:p>
          <a:p>
            <a:pPr algn="l"/>
            <a:r>
              <a:rPr sz="1800" b="0">
                <a:solidFill>
                  <a:srgbClr val="334155"/>
                </a:solidFill>
                <a:latin typeface="Calibri"/>
              </a:rPr>
              <a:t>•  Customer Data Platform strategy</a:t>
            </a:r>
          </a:p>
          <a:p>
            <a:pPr algn="l"/>
            <a:r>
              <a:rPr sz="1800" b="0">
                <a:solidFill>
                  <a:srgbClr val="334155"/>
                </a:solidFill>
                <a:latin typeface="Calibri"/>
              </a:rPr>
              <a:t>•  Enterprise architecture and governance</a:t>
            </a:r>
          </a:p>
          <a:p>
            <a:pPr algn="l"/>
            <a:r>
              <a:rPr sz="1800" b="0">
                <a:solidFill>
                  <a:srgbClr val="334155"/>
                </a:solidFill>
                <a:latin typeface="Calibri"/>
              </a:rPr>
              <a:t>•  GCC-to-global capability transformation</a:t>
            </a:r>
          </a:p>
          <a:p>
            <a:pPr algn="l"/>
            <a:r>
              <a:rPr sz="1800" b="0">
                <a:solidFill>
                  <a:srgbClr val="334155"/>
                </a:solidFill>
                <a:latin typeface="Calibri"/>
              </a:rPr>
              <a:t>•  Reusable capabilities and global delivery models</a:t>
            </a:r>
          </a:p>
          <a:p>
            <a:pPr algn="l"/>
            <a:r>
              <a:rPr sz="1800" b="0">
                <a:solidFill>
                  <a:srgbClr val="334155"/>
                </a:solidFill>
                <a:latin typeface="Calibri"/>
              </a:rPr>
              <a:t>•  One month of post-programme 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9496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82296" cy="4206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5120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Live Customised Programme: ₹1,00,000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5120640" cy="36575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Calibri"/>
              </a:rPr>
              <a:t>•  Discovery: role, requirements, technology landscape</a:t>
            </a:r>
          </a:p>
          <a:p>
            <a:pPr algn="l"/>
            <a:r>
              <a:rPr sz="1800" b="0">
                <a:solidFill>
                  <a:srgbClr val="334155"/>
                </a:solidFill>
                <a:latin typeface="Calibri"/>
              </a:rPr>
              <a:t>•  Live sessions and labs on your tools</a:t>
            </a:r>
          </a:p>
          <a:p>
            <a:pPr algn="l"/>
            <a:r>
              <a:rPr sz="1800" b="0">
                <a:solidFill>
                  <a:srgbClr val="334155"/>
                </a:solidFill>
                <a:latin typeface="Calibri"/>
              </a:rPr>
              <a:t>•  Project work and reviews</a:t>
            </a:r>
          </a:p>
          <a:p>
            <a:pPr algn="l"/>
            <a:r>
              <a:rPr sz="1800" b="0">
                <a:solidFill>
                  <a:srgbClr val="334155"/>
                </a:solidFill>
                <a:latin typeface="Calibri"/>
              </a:rPr>
              <a:t>•  Capstone tied to a real use case</a:t>
            </a:r>
          </a:p>
          <a:p>
            <a:pPr algn="l"/>
            <a:r>
              <a:rPr sz="1800" b="0">
                <a:solidFill>
                  <a:srgbClr val="334155"/>
                </a:solidFill>
                <a:latin typeface="Calibri"/>
              </a:rPr>
              <a:t>•  For teams, consultancies and individuals</a:t>
            </a:r>
          </a:p>
          <a:p>
            <a:pPr algn="l"/>
            <a:r>
              <a:rPr sz="1800" b="0">
                <a:solidFill>
                  <a:srgbClr val="334155"/>
                </a:solidFill>
                <a:latin typeface="Calibri"/>
              </a:rPr>
              <a:t>•  Quoted per engagement for teams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Corporate pricing is quoted per engagement. Outcomes depend on participation and practice.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Infinate360  ·  infiante360techacademy.com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510528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149840" y="566928"/>
            <a:ext cx="1499616" cy="96926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640080"/>
            <a:ext cx="1419606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Let's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>
                <a:solidFill>
                  <a:srgbClr val="E0E7FF"/>
                </a:solidFill>
                <a:latin typeface="Calibri"/>
              </a:rPr>
              <a:t>Tell us what you need: learning, a contractor, or a Centre of Excellence.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685800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22860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Calibri"/>
              </a:rPr>
              <a:t>Website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926080"/>
            <a:ext cx="448056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infiante360techacademy.com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03320"/>
            <a:ext cx="685800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03320"/>
            <a:ext cx="22860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Calibri"/>
              </a:rPr>
              <a:t>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703320"/>
            <a:ext cx="448056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infinate360businessconsulting@gmail.com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685800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480560"/>
            <a:ext cx="22860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Calibri"/>
              </a:rPr>
              <a:t>Phone / WhatsApp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4480560"/>
            <a:ext cx="448056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+91 94901 64044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57800"/>
            <a:ext cx="685800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257800"/>
            <a:ext cx="22860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Calibri"/>
              </a:rPr>
              <a:t>LinkedIn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5257800"/>
            <a:ext cx="448056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linkedin.com/in/pavanbabu1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126480"/>
            <a:ext cx="1078992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0">
                <a:solidFill>
                  <a:srgbClr val="E0E7FF"/>
                </a:solidFill>
                <a:latin typeface="Calibri"/>
              </a:rPr>
              <a:t>Built around Adobe Experience Cloud technologies and Experience League learning resources. Not affiliated with or endorsed by Adobe. No job, salary or certification outcome is guaranteed.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